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Reddit WallStreetBets and stock prediction</a:t>
            </a:r>
          </a:p>
          <a:p>
            <a:pPr>
              <a:defRPr sz="1800">
                <a:solidFill>
                  <a:srgbClr val="BEE3F8"/>
                </a:solidFill>
              </a:defRPr>
            </a:pPr>
            <a:r>
              <a:t>Replication, new models and leakage-free evaluation</a:t>
            </a:r>
          </a:p>
          <a:p>
            <a:pPr>
              <a:defRPr sz="1800">
                <a:solidFill>
                  <a:srgbClr val="BEE3F8"/>
                </a:solidFill>
              </a:defRPr>
            </a:pPr>
            <a:r>
              <a:t>Kaushik Krishna Dwarakanath (PES1UG24CS900)  |  Chaturya Prabhakar Reddy (PES1UG24CS126)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Replicate the CS229 report 'Predicting market volatility and building short-term trading strategies using data from Reddit's WallStreetBets', then build and compare further models and a more rigorous evaluation. Task: from a WSB post that mentions GME, AMC, TSLA or FB, predict (a) whether the stock's open rises at the next trading day (direction) and (b) whether the move is large (volatility).</a:t>
            </a:r>
          </a:p>
          <a:p>
            <a:pPr>
              <a:spcAft>
                <a:spcPts val="800"/>
              </a:spcAft>
              <a:defRPr sz="2000"/>
            </a:pPr>
            <a:r>
              <a:t>• Long-term goal of the paper: a bot that makes short-term trades from unconventional sources like WSB.</a:t>
            </a:r>
          </a:p>
          <a:p>
            <a:pPr>
              <a:spcAft>
                <a:spcPts val="800"/>
              </a:spcAft>
              <a:defRPr sz="2000"/>
            </a:pPr>
            <a:r>
              <a:t>• Our goal: reproduce the results, add models, and test whether the gains survive a rigorous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Kaggle 'gpreda/reddit-wallstreetsbets-posts' (title, score, comments, body, timestamp) joined with Yahoo Finance daily open prices. Posts mentioning GME, AMC, TSLA or FB give AMC 5,336, FB 260, GME 14,688, TSLA 1,238 labelled posts. Features (paper): post score, comment count, length, VADER positive/neutral/negative sentiment (+ bias). Labels: direction = open(t1) &gt; open(t0), volatility = |open(t1)/open(t0)-1| above the training median, where t0 is the first trading day on/after the post and t1 the next trading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Replication: Newton logistic regression (from scratch) + 3x256 ReLU network, random and majority baselines</a:t>
            </a:r>
          </a:p>
          <a:p>
            <a:pPr>
              <a:spcAft>
                <a:spcPts val="800"/>
              </a:spcAft>
              <a:defRPr sz="1900"/>
            </a:pPr>
            <a:r>
              <a:t>• Extension: six extra model families, extended features, randomized hyperparameter search</a:t>
            </a:r>
          </a:p>
          <a:p>
            <a:pPr>
              <a:spcAft>
                <a:spcPts val="800"/>
              </a:spcAft>
              <a:defRPr sz="1900"/>
            </a:pPr>
            <a:r>
              <a:t>• Evaluation: random (paper) vs day-grouped vs chronological split; day-based CV for tuning; 5-seed NNs</a:t>
            </a:r>
          </a:p>
          <a:p>
            <a:pPr>
              <a:spcAft>
                <a:spcPts val="800"/>
              </a:spcAft>
              <a:defRPr sz="1900"/>
            </a:pPr>
            <a:r>
              <a:t>• Backtest: walk-forward long/flat with costs, bootstrap CI and permutation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Models built and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Baselines: random, majority class</a:t>
            </a:r>
          </a:p>
          <a:p>
            <a:pPr>
              <a:spcAft>
                <a:spcPts val="800"/>
              </a:spcAft>
              <a:defRPr sz="1900"/>
            </a:pPr>
            <a:r>
              <a:t>• Paper models: Newton logistic regression, NN 3x256 (ReLU, Adam 1e-3, batch 16, 30 epochs)</a:t>
            </a:r>
          </a:p>
          <a:p>
            <a:pPr>
              <a:spcAft>
                <a:spcPts val="800"/>
              </a:spcAft>
              <a:defRPr sz="1900"/>
            </a:pPr>
            <a:r>
              <a:t>• Ablation: Random Forest and Gradient Boosting on the paper's 6 features</a:t>
            </a:r>
          </a:p>
          <a:p>
            <a:pPr>
              <a:spcAft>
                <a:spcPts val="800"/>
              </a:spcAft>
              <a:defRPr sz="1900"/>
            </a:pPr>
            <a:r>
              <a:t>• New (extended features, tuned): NN, Logistic Regression (tuned L2), Random Forest, Gradient Boosting, SVM-RBF, KNN</a:t>
            </a:r>
          </a:p>
          <a:p>
            <a:pPr>
              <a:spcAft>
                <a:spcPts val="800"/>
              </a:spcAft>
              <a:defRPr sz="1900"/>
            </a:pPr>
            <a:r>
              <a:t>• Selection and tuning use day-grouped / forward-chaining CV on training days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Finding 1: the random split leaks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All posts of a trading day share one label, so a post-level shuffle lets models memorise days.</a:t>
            </a:r>
          </a:p>
          <a:p>
            <a:pPr>
              <a:spcAft>
                <a:spcPts val="800"/>
              </a:spcAft>
              <a:defRPr sz="1600"/>
            </a:pPr>
            <a:r>
              <a:t>• RF direction: 0.880 (random) -&gt; 0.586 (day-grouped). RF volatility: 0.911 -&gt; 0.835.</a:t>
            </a:r>
          </a:p>
        </p:txBody>
      </p:sp>
      <p:pic>
        <p:nvPicPr>
          <p:cNvPr id="5" name="Picture 4" descr="fig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331720"/>
            <a:ext cx="9875520" cy="33576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Results: mean test accuracy over the 4 stocks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4398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</a:tblGrid>
              <a:tr h="33832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Dir 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Dir grp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Dir chr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Vol 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Vol grp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Vol chr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BalAcc 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BalAcc vol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Majority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0.500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Random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0.410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LogReg Newton (paper)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0.653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NN 3x256 (paper)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0.575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RF, paper feats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0.576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HGB, paper feats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0.495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NN 3x256, ext feats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0.724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LogReg, tuned 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0.553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0.771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HistGradBoost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0.698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SVM-RBF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0.750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Finding 2: balanced accuracy on a leak-free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Direction: best new RandomForest 0.601 vs best paper 0.512. Volatility: 0.771 vs 0.653.</a:t>
            </a:r>
          </a:p>
          <a:p>
            <a:pPr>
              <a:spcAft>
                <a:spcPts val="800"/>
              </a:spcAft>
              <a:defRPr sz="1600"/>
            </a:pPr>
            <a:r>
              <a:t>• Raw accuracy does not beat the majority baseline, so the improvement is modest and not consistent across stocks.</a:t>
            </a:r>
          </a:p>
        </p:txBody>
      </p:sp>
      <p:pic>
        <p:nvPicPr>
          <p:cNvPr id="5" name="Picture 4" descr="fig_bal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331720"/>
            <a:ext cx="9875520" cy="3752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Walk-forward backtest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About 61 traded days per stock; 0 of 12 combinations beat random timing (p&lt;0.05).</a:t>
            </a:r>
          </a:p>
        </p:txBody>
      </p:sp>
      <p:pic>
        <p:nvPicPr>
          <p:cNvPr id="5" name="Picture 4" descr="fig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7" y="2331720"/>
            <a:ext cx="7498079" cy="43738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Leakage: the paper-style random split lets same-day posts (which share one label) fall in both train and test. Random Forest direction accuracy falls from 0.880 (random) to 0.586 (day-grouped); volatility from 0.911 to 0.835. The paper's own models barely move, so reported paper-style accuracies are likely optimistic.</a:t>
            </a:r>
          </a:p>
          <a:p>
            <a:pPr>
              <a:spcAft>
                <a:spcPts val="800"/>
              </a:spcAft>
              <a:defRPr sz="1400"/>
            </a:pPr>
            <a:r>
              <a:t>• Direction, leak-free: best new model by balanced accuracy is RandomForest (0.601) vs best paper model LogReg Newton (paper) (0.512); however the best new raw accuracy 0.586 does not beat the majority baseline (0.589).</a:t>
            </a:r>
          </a:p>
          <a:p>
            <a:pPr>
              <a:spcAft>
                <a:spcPts val="800"/>
              </a:spcAft>
              <a:defRPr sz="1400"/>
            </a:pPr>
            <a:r>
              <a:t>• Volatility, leak-free: best new model by balanced accuracy is RandomForest (0.771) vs best paper model LogReg Newton (paper) (0.653); however the best new raw accuracy 0.835 does not beat the majority baseline (0.837).</a:t>
            </a:r>
          </a:p>
          <a:p>
            <a:pPr>
              <a:spcAft>
                <a:spcPts val="800"/>
              </a:spcAft>
              <a:defRPr sz="1400"/>
            </a:pPr>
            <a:r>
              <a:t>• Walk-forward backtest (about 61 traded days per stock, 10 bps costs): 0 of 12 stock-model combinations beat random timing at p&lt;0.05 (smallest p = 0.17), so there is no statistically reliable trading edge.</a:t>
            </a:r>
          </a:p>
          <a:p>
            <a:pPr>
              <a:spcAft>
                <a:spcPts val="800"/>
              </a:spcAft>
              <a:defRPr sz="1400"/>
            </a:pPr>
            <a:r>
              <a:t>• Limitations: few days per stock, tiny chronological test sets, regime shifts around the Jan 2021 spike; results are exploratory. Chronological-split numbers should be read with caution.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Contributions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Member 1: &lt;fill in&gt;</a:t>
            </a:r>
          </a:p>
          <a:p>
            <a:pPr>
              <a:spcAft>
                <a:spcPts val="800"/>
              </a:spcAft>
              <a:defRPr sz="2000"/>
            </a:pPr>
            <a:r>
              <a:t>• Member 2: &lt;fill in&gt;</a:t>
            </a:r>
          </a:p>
          <a:p>
            <a:pPr>
              <a:spcAft>
                <a:spcPts val="800"/>
              </a:spcAft>
              <a:defRPr sz="2000"/>
            </a:pPr>
            <a:r>
              <a:t>• Future work: pool stocks at the day level, longer price history, FinBERT sentiment, intraday timestamps for exact market-open alignment, more data beyond early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